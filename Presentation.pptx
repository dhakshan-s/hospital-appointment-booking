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43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34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Hospital Appointment</a:t>
            </a:r>
            <a:br/>
            <a:r>
              <a:rPr>
                <a:solidFill>
                  <a:srgbClr val="3E051E"/>
                </a:solidFill>
              </a:rPr>
              <a:t>Booking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83464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2000" b="1">
                <a:solidFill>
                  <a:srgbClr val="2A74DA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Business Logic • Design Decisions •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52044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6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Short presentation based on the Hospital Appointment Booking System (HABS) BRD.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4572000"/>
            <a:ext cx="1325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7A0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4663440"/>
            <a:ext cx="125272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1">
                <a:solidFill>
                  <a:srgbClr val="2A74DA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Guest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4572000"/>
            <a:ext cx="1325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9A2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9736" y="4663440"/>
            <a:ext cx="125272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1">
                <a:solidFill>
                  <a:srgbClr val="11A6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Patient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4572000"/>
            <a:ext cx="1325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3E0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8496" y="4663440"/>
            <a:ext cx="125272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1">
                <a:solidFill>
                  <a:srgbClr val="7157D2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Doctor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4572000"/>
            <a:ext cx="1737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2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77256" y="4663440"/>
            <a:ext cx="166420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Prepared from the supplied BRD | 19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26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01 | Core business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Public browsing is allowed; appointment actions require an authenticated patient.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1005840" cy="54864"/>
          </a:xfrm>
          <a:prstGeom prst="rect">
            <a:avLst/>
          </a:prstGeom>
          <a:solidFill>
            <a:srgbClr val="7A01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520440" cy="1874519"/>
          </a:xfrm>
          <a:prstGeom prst="roundRect">
            <a:avLst/>
          </a:prstGeom>
          <a:solidFill>
            <a:srgbClr val="F8EAF1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18488"/>
            <a:ext cx="64008" cy="1655063"/>
          </a:xfrm>
          <a:prstGeom prst="rect">
            <a:avLst/>
          </a:prstGeom>
          <a:solidFill>
            <a:srgbClr val="7A01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55063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Guest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3136392" cy="1252727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Browse active doctors and view profiles, fees and availability.</a:t>
            </a:r>
          </a:p>
          <a:p>
            <a:pPr>
              <a:spcAft>
                <a:spcPts val="600"/>
              </a:spcAft>
              <a:defRPr sz="12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If booking is attempted, redirect to Login / Register.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1874519"/>
          </a:xfrm>
          <a:prstGeom prst="roundRect">
            <a:avLst/>
          </a:prstGeom>
          <a:solidFill>
            <a:srgbClr val="FBEFF4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18488"/>
            <a:ext cx="64008" cy="1655063"/>
          </a:xfrm>
          <a:prstGeom prst="rect">
            <a:avLst/>
          </a:prstGeom>
          <a:solidFill>
            <a:srgbClr val="9A245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55063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Patient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39112"/>
            <a:ext cx="3136392" cy="1252727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Register and verify email/mobile, then log in.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Search doctor → choose an available slot → confirm booking.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Receive unique Appointment ID and email/SMS confirmation.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520440" cy="1874519"/>
          </a:xfrm>
          <a:prstGeom prst="roundRect">
            <a:avLst/>
          </a:prstGeom>
          <a:solidFill>
            <a:srgbClr val="F3E3EB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18488"/>
            <a:ext cx="64008" cy="1655063"/>
          </a:xfrm>
          <a:prstGeom prst="rect">
            <a:avLst/>
          </a:prstGeom>
          <a:solidFill>
            <a:srgbClr val="3E051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55063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Doctor &amp; Administrator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39112"/>
            <a:ext cx="3136392" cy="1252727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Doctor manages own profile, availability and appointments.</a:t>
            </a:r>
          </a:p>
          <a:p>
            <a:pPr>
              <a:spcAft>
                <a:spcPts val="600"/>
              </a:spcAft>
              <a:defRPr sz="12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Administrator manages patient/doctor accounts, schedules, appointments and reports.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7033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Key business 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60520"/>
            <a:ext cx="3429000" cy="1234440"/>
          </a:xfrm>
          <a:prstGeom prst="roundRect">
            <a:avLst/>
          </a:prstGeom>
          <a:solidFill>
            <a:srgbClr val="F8EAF1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270248"/>
            <a:ext cx="64008" cy="1014984"/>
          </a:xfrm>
          <a:prstGeom prst="rect">
            <a:avLst/>
          </a:prstGeom>
          <a:solidFill>
            <a:srgbClr val="7A01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306824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Prevent double booking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690872"/>
            <a:ext cx="3044952" cy="6126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Validate and lock the selected slot before creating a booking.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160520"/>
            <a:ext cx="3429000" cy="1234440"/>
          </a:xfrm>
          <a:prstGeom prst="roundRect">
            <a:avLst/>
          </a:prstGeom>
          <a:solidFill>
            <a:srgbClr val="FBEFF4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270248"/>
            <a:ext cx="64008" cy="1014984"/>
          </a:xfrm>
          <a:prstGeom prst="rect">
            <a:avLst/>
          </a:prstGeom>
          <a:solidFill>
            <a:srgbClr val="9A245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306824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Cancel / reschedule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690872"/>
            <a:ext cx="3044952" cy="6126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Apply the cut-off; release old slot only after successful rescheduling.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4160520"/>
            <a:ext cx="3429000" cy="1234440"/>
          </a:xfrm>
          <a:prstGeom prst="roundRect">
            <a:avLst/>
          </a:prstGeom>
          <a:solidFill>
            <a:srgbClr val="F3E3EB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4270248"/>
            <a:ext cx="64008" cy="1014984"/>
          </a:xfrm>
          <a:prstGeom prst="rect">
            <a:avLst/>
          </a:prstGeom>
          <a:solidFill>
            <a:srgbClr val="3E051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19" y="4306824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Role-based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4690872"/>
            <a:ext cx="3044952" cy="6126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Users can access only the functions and records permitted for their role.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0644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Statuses: Booked • Rescheduled • Cancelled • Completed • No-Show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26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02 | Appointment lifecycle &amp;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A consistent lifecycle helps protect slot availability and make changes predictable.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1005840" cy="54864"/>
          </a:xfrm>
          <a:prstGeom prst="rect">
            <a:avLst/>
          </a:prstGeom>
          <a:solidFill>
            <a:srgbClr val="7A01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468880" cy="1691640"/>
          </a:xfrm>
          <a:prstGeom prst="roundRect">
            <a:avLst/>
          </a:prstGeom>
          <a:solidFill>
            <a:srgbClr val="F8EAF1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92807"/>
            <a:ext cx="64008" cy="1472184"/>
          </a:xfrm>
          <a:prstGeom prst="rect">
            <a:avLst/>
          </a:prstGeom>
          <a:solidFill>
            <a:srgbClr val="7A01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9384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1  Select slot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13432"/>
            <a:ext cx="2084832" cy="10698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Only valid future dates and available slots can be selected.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331720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2200" b="1">
                <a:solidFill>
                  <a:srgbClr val="2A74DA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783080"/>
            <a:ext cx="2468880" cy="1691640"/>
          </a:xfrm>
          <a:prstGeom prst="roundRect">
            <a:avLst/>
          </a:prstGeom>
          <a:solidFill>
            <a:srgbClr val="FBEFF4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39" y="1892807"/>
            <a:ext cx="64008" cy="1472184"/>
          </a:xfrm>
          <a:prstGeom prst="rect">
            <a:avLst/>
          </a:prstGeom>
          <a:solidFill>
            <a:srgbClr val="9A245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929384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2  Validate &amp; 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2313432"/>
            <a:ext cx="2084832" cy="10698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Check availability and prevent concurrent double booking.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8" y="2331720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2200" b="1">
                <a:solidFill>
                  <a:srgbClr val="2A74DA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83080"/>
            <a:ext cx="2468880" cy="1691640"/>
          </a:xfrm>
          <a:prstGeom prst="roundRect">
            <a:avLst/>
          </a:prstGeom>
          <a:solidFill>
            <a:srgbClr val="F3E3EB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892807"/>
            <a:ext cx="64008" cy="1472184"/>
          </a:xfrm>
          <a:prstGeom prst="rect">
            <a:avLst/>
          </a:prstGeom>
          <a:solidFill>
            <a:srgbClr val="3E051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29384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3  Confirm booking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313432"/>
            <a:ext cx="2084832" cy="10698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Create a unique Appointment ID and send confirmation.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2331720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2200" b="1">
                <a:solidFill>
                  <a:srgbClr val="2A74DA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59" y="1783080"/>
            <a:ext cx="2468880" cy="1691640"/>
          </a:xfrm>
          <a:prstGeom prst="roundRect">
            <a:avLst/>
          </a:prstGeom>
          <a:solidFill>
            <a:srgbClr val="F8EAF1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59" y="1892807"/>
            <a:ext cx="64008" cy="1472184"/>
          </a:xfrm>
          <a:prstGeom prst="rect">
            <a:avLst/>
          </a:prstGeom>
          <a:solidFill>
            <a:srgbClr val="7A01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39" y="1929384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4  Manage booking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2313432"/>
            <a:ext cx="2084832" cy="10698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Cancel, reschedule, complete or mark no-show as permitted.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977639"/>
            <a:ext cx="5257800" cy="1417320"/>
          </a:xfrm>
          <a:prstGeom prst="roundRect">
            <a:avLst/>
          </a:prstGeom>
          <a:solidFill>
            <a:srgbClr val="F8EAF1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087368"/>
            <a:ext cx="64008" cy="1197864"/>
          </a:xfrm>
          <a:prstGeom prst="rect">
            <a:avLst/>
          </a:prstGeom>
          <a:solidFill>
            <a:srgbClr val="7A01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23944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Reschedule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507992"/>
            <a:ext cx="4873752" cy="79552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Book the new slot first; release the old slot only after success.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If the new slot is unavailable, keep the existing booking.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977639"/>
            <a:ext cx="5257800" cy="1417320"/>
          </a:xfrm>
          <a:prstGeom prst="roundRect">
            <a:avLst/>
          </a:prstGeom>
          <a:solidFill>
            <a:srgbClr val="FBEFF4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087368"/>
            <a:ext cx="64008" cy="1197864"/>
          </a:xfrm>
          <a:prstGeom prst="rect">
            <a:avLst/>
          </a:prstGeom>
          <a:solidFill>
            <a:srgbClr val="9A245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123944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Notifications &amp;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507992"/>
            <a:ext cx="4873752" cy="79552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Doctors can view/manage only their own appointments.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Email/SMS for confirmation, cancellation and rescheduling; reminder is optional in the BRD.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06440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Security controls in the BRD: hashed passwords, HTTPS, role-based access, 15-minute session timeout and audit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26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03 |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The proposed flow structure mirrors the BRD’s user roles, permissions and Phase 1 boundaries.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1005840" cy="54864"/>
          </a:xfrm>
          <a:prstGeom prst="rect">
            <a:avLst/>
          </a:prstGeom>
          <a:solidFill>
            <a:srgbClr val="7A01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520440" cy="1828800"/>
          </a:xfrm>
          <a:prstGeom prst="roundRect">
            <a:avLst/>
          </a:prstGeom>
          <a:solidFill>
            <a:srgbClr val="F8EAF1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18488"/>
            <a:ext cx="64008" cy="1609344"/>
          </a:xfrm>
          <a:prstGeom prst="rect">
            <a:avLst/>
          </a:prstGeom>
          <a:solidFill>
            <a:srgbClr val="7A01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55063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Separate role journeys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3136392" cy="1207007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Distinct paths for Guest, Patient, Doctor and Administrator.</a:t>
            </a:r>
          </a:p>
          <a:p>
            <a:pPr>
              <a:spcAft>
                <a:spcPts val="600"/>
              </a:spcAft>
              <a:defRPr sz="12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Guests can browse; booking redirects to authentication.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1828800"/>
          </a:xfrm>
          <a:prstGeom prst="roundRect">
            <a:avLst/>
          </a:prstGeom>
          <a:solidFill>
            <a:srgbClr val="FBEFF4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18488"/>
            <a:ext cx="64008" cy="1609344"/>
          </a:xfrm>
          <a:prstGeom prst="rect">
            <a:avLst/>
          </a:prstGeom>
          <a:solidFill>
            <a:srgbClr val="9A245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55063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Clear booking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39112"/>
            <a:ext cx="3136392" cy="1207007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Show doctor availability before selection.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Display errors and allow another slot when unavailable.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Show Appointment ID after success.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520440" cy="1828800"/>
          </a:xfrm>
          <a:prstGeom prst="roundRect">
            <a:avLst/>
          </a:prstGeom>
          <a:solidFill>
            <a:srgbClr val="F3E3EB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18488"/>
            <a:ext cx="64008" cy="1609344"/>
          </a:xfrm>
          <a:prstGeom prst="rect">
            <a:avLst/>
          </a:prstGeom>
          <a:solidFill>
            <a:srgbClr val="3E051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55063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Responsive &amp; secure web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39112"/>
            <a:ext cx="3136392" cy="1207007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Desktop and mobile-browser support.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RBAC, hashed passwords and HTTPS.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Support current Chrome, Edge, Firefox and Safari.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Scope boundaries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5257800" cy="1417320"/>
          </a:xfrm>
          <a:prstGeom prst="roundRect">
            <a:avLst/>
          </a:prstGeom>
          <a:solidFill>
            <a:srgbClr val="FBEFF4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24528"/>
            <a:ext cx="64008" cy="1197864"/>
          </a:xfrm>
          <a:prstGeom prst="rect">
            <a:avLst/>
          </a:prstGeom>
          <a:solidFill>
            <a:srgbClr val="9A245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61104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Included in Phase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645152"/>
            <a:ext cx="4873752" cy="79552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Web app, patient/doctor/admin modules, booking, schedules and basic appointment reports.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114800"/>
            <a:ext cx="5257800" cy="1417320"/>
          </a:xfrm>
          <a:prstGeom prst="roundRect">
            <a:avLst/>
          </a:prstGeom>
          <a:solidFill>
            <a:srgbClr val="FBEFF4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224528"/>
            <a:ext cx="64008" cy="1197864"/>
          </a:xfrm>
          <a:prstGeom prst="rect">
            <a:avLst/>
          </a:prstGeom>
          <a:solidFill>
            <a:srgbClr val="9A245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61104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Excluded from Phase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645152"/>
            <a:ext cx="4873752" cy="79552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Online payment/refunds, EMR/EHR, prescriptions/lab reports, teleconsultation, native apps, inpatient and emergency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26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04 | Assumptions to confirm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These values are identified as assumptions in the BRD, not final approved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1005840" cy="54864"/>
          </a:xfrm>
          <a:prstGeom prst="rect">
            <a:avLst/>
          </a:prstGeom>
          <a:solidFill>
            <a:srgbClr val="7A01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257800" cy="1965960"/>
          </a:xfrm>
          <a:prstGeom prst="roundRect">
            <a:avLst/>
          </a:prstGeom>
          <a:solidFill>
            <a:srgbClr val="F8EAF1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64008" cy="1746504"/>
          </a:xfrm>
          <a:prstGeom prst="rect">
            <a:avLst/>
          </a:prstGeom>
          <a:solidFill>
            <a:srgbClr val="7A01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9344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Working 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4873752" cy="1344167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Single hospital; web application only.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Booking window: up to 30 days ahead.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Cancel/reschedule cut-off: 2 hours before appointment.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Configurable slot duration (15 or 30 minutes suggested).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Payment at hospital; no online payment in Phase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57800" cy="1965960"/>
          </a:xfrm>
          <a:prstGeom prst="roundRect">
            <a:avLst/>
          </a:prstGeom>
          <a:solidFill>
            <a:srgbClr val="F8EAF1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72768"/>
            <a:ext cx="64008" cy="1746504"/>
          </a:xfrm>
          <a:prstGeom prst="rect">
            <a:avLst/>
          </a:prstGeom>
          <a:solidFill>
            <a:srgbClr val="7A01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9344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Clarify before sign-off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93392"/>
            <a:ext cx="4873752" cy="1344167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Confirm exact slot duration, booking window and cut-off.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Confirm verification and password-reset method.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Define doctor leave and no-show handling.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Confirm rescheduling to another doctor and family bookings.</a:t>
            </a:r>
          </a:p>
          <a:p>
            <a:pPr>
              <a:spcAft>
                <a:spcPts val="600"/>
              </a:spcAft>
              <a:defRPr sz="1100">
                <a:solidFill>
                  <a:srgbClr val="2E3A4E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•  Confirm report export, reminder rules and capacity target.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Non-functional targets in the BRD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1965960" cy="914400"/>
          </a:xfrm>
          <a:prstGeom prst="roundRect">
            <a:avLst/>
          </a:prstGeom>
          <a:solidFill>
            <a:srgbClr val="F8EAF1"/>
          </a:solidFill>
          <a:ln>
            <a:solidFill>
              <a:srgbClr val="D7E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425696"/>
            <a:ext cx="1856231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Page 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727448"/>
            <a:ext cx="1856231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&lt; 3 sec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4297680"/>
            <a:ext cx="1965960" cy="914400"/>
          </a:xfrm>
          <a:prstGeom prst="roundRect">
            <a:avLst/>
          </a:prstGeom>
          <a:solidFill>
            <a:srgbClr val="F8EAF1"/>
          </a:solidFill>
          <a:ln>
            <a:solidFill>
              <a:srgbClr val="D7E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4425696"/>
            <a:ext cx="1856231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Booking confirmation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6664" y="4727448"/>
            <a:ext cx="1856231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&lt; 5 sec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4297680"/>
            <a:ext cx="1965960" cy="914400"/>
          </a:xfrm>
          <a:prstGeom prst="roundRect">
            <a:avLst/>
          </a:prstGeom>
          <a:solidFill>
            <a:srgbClr val="F8EAF1"/>
          </a:solidFill>
          <a:ln>
            <a:solidFill>
              <a:srgbClr val="D7E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6944" y="4425696"/>
            <a:ext cx="1856231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Uptime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4727448"/>
            <a:ext cx="1856231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99.5%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4297680"/>
            <a:ext cx="1965960" cy="914400"/>
          </a:xfrm>
          <a:prstGeom prst="roundRect">
            <a:avLst/>
          </a:prstGeom>
          <a:solidFill>
            <a:srgbClr val="F8EAF1"/>
          </a:solidFill>
          <a:ln>
            <a:solidFill>
              <a:srgbClr val="D7E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4425696"/>
            <a:ext cx="1856231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Session timeout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4" y="4727448"/>
            <a:ext cx="1856231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15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4297680"/>
            <a:ext cx="1965960" cy="914400"/>
          </a:xfrm>
          <a:prstGeom prst="roundRect">
            <a:avLst/>
          </a:prstGeom>
          <a:solidFill>
            <a:srgbClr val="F8EAF1"/>
          </a:solidFill>
          <a:ln>
            <a:solidFill>
              <a:srgbClr val="D7E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47504" y="4425696"/>
            <a:ext cx="1856231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Concurrent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4727448"/>
            <a:ext cx="1856231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1">
                <a:solidFill>
                  <a:srgbClr val="122C5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500 — confirm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71500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defRPr sz="1200" b="1">
                <a:solidFill>
                  <a:srgbClr val="11A68B"/>
                </a:solidFill>
                <a:latin typeface="Aptos"/>
              </a:defRPr>
            </a:pPr>
            <a:r>
              <a:rPr>
                <a:solidFill>
                  <a:srgbClr val="3E051E"/>
                </a:solidFill>
              </a:rPr>
              <a:t>Recommendation: obtain stakeholder approval for assumptions and open requirements before development and test-case sign-off.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